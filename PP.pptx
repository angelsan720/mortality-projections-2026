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6" r:id="rId10"/>
    <p:sldId id="277" r:id="rId11"/>
    <p:sldId id="278" r:id="rId12"/>
    <p:sldId id="265" r:id="rId13"/>
    <p:sldId id="279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6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28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9AFD-7651-4EBA-C3E6-C5D6EB86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245D2-CC2B-2384-A3E8-457C9681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05721-E56A-1B30-53EF-4FD802B50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E0DE1-8D0D-F378-5A82-090D90255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4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2364-C82B-3018-B5CD-2DE576C6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E1D0D-2F3B-23D7-B467-3000B9501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1AE57-A74B-258D-6DA5-69806D331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39000-CD31-E5B4-82AC-2AA930AC4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28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6B59-84D5-279F-E9A9-952B2BD0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E889E-41DB-3D85-BAF1-F7066AFEB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638DD-8434-35D7-E54F-2BEAFA9CE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99C47-FE3F-8EB8-3B3F-C13B37257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99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45742-04CD-B2BE-21FB-A4355F45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E1DBC-3A43-7CD9-2DB4-FBDC81561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98D6F-3C95-7C3E-88AA-1D40974D9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7EBFF-0C7A-AA6E-5572-09B0E88E3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08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86E9-70F2-DA72-3F7B-4EFFE962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63C19-999E-9027-937D-4DF7421DA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E1A44-BCF5-869C-9B54-765E57070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FD17D-4062-C812-B78B-C033441C6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04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A4B8C">
              <a:alpha val="30000"/>
            </a:srgbClr>
          </a:solidFill>
          <a:ln w="12700">
            <a:solidFill>
              <a:srgbClr val="1A4B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3" name="Shape 1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0C7B93">
              <a:alpha val="25000"/>
            </a:srgbClr>
          </a:solidFill>
          <a:ln w="12700">
            <a:solidFill>
              <a:srgbClr val="0C7B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1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Puerto Rico · Recinto de Ciencias Medicas</a:t>
            </a:r>
            <a:endParaRPr lang="es-PR" sz="1100" noProof="0" dirty="0"/>
          </a:p>
          <a:p>
            <a:pPr marL="0" indent="0" algn="l">
              <a:buNone/>
            </a:pPr>
            <a:r>
              <a:rPr lang="es-PR" sz="11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Graduada de Demografía</a:t>
            </a:r>
            <a:endParaRPr lang="es-P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943600" cy="36576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 Probabilísticas de</a:t>
            </a:r>
            <a:endParaRPr lang="es-PR" sz="2800" noProof="0" dirty="0"/>
          </a:p>
          <a:p>
            <a:pPr marL="0" indent="0" algn="l">
              <a:buNone/>
            </a:pPr>
            <a:r>
              <a:rPr lang="es-P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 para Puerto Rico</a:t>
            </a:r>
            <a:endParaRPr lang="es-PR" sz="2800" noProof="0" dirty="0"/>
          </a:p>
          <a:p>
            <a:pPr marL="0" indent="0" algn="l">
              <a:buNone/>
            </a:pPr>
            <a:r>
              <a:rPr lang="es-P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 el Modelo Lee-Carter</a:t>
            </a:r>
            <a:endParaRPr lang="es-PR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400" i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Oral de Tesis</a:t>
            </a:r>
            <a:endParaRPr lang="es-P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1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Sanquiche-</a:t>
            </a:r>
            <a:r>
              <a:rPr lang="es-PR" sz="1100" noProof="0" dirty="0" err="1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Sanchez</a:t>
            </a:r>
            <a:r>
              <a:rPr lang="es-PR" sz="11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Preceptor: </a:t>
            </a:r>
            <a:r>
              <a:rPr lang="es-PR" sz="1100" noProof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Hernando Mattei  </a:t>
            </a:r>
            <a:r>
              <a:rPr lang="es-PR" sz="11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2026-05-22</a:t>
            </a:r>
            <a:endParaRPr lang="es-P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8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P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P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proyecciones probabilísticas de tasas de mortalidad y esperanza de vida al nacer para Puerto Rico (2022–2062) aplicando el modelo Lee-Carter con </a:t>
            </a:r>
            <a:r>
              <a:rPr lang="es-PR" sz="12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r>
              <a:rPr lang="es-P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parámetros, y comparar los resultados con proyecciones de organismos internacionales.</a:t>
            </a:r>
            <a:endParaRPr lang="es-P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PR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1051560" y="2103120"/>
            <a:ext cx="7589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la serie de mortalidad 1950–2021 en los parámetros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modelo Lee-Carter por edad y sexo.</a:t>
            </a:r>
            <a:endParaRPr lang="es-P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PR" sz="1800" noProof="0" dirty="0"/>
          </a:p>
        </p:txBody>
      </p:sp>
      <p:sp>
        <p:nvSpPr>
          <p:cNvPr id="13" name="Shape 11"/>
          <p:cNvSpPr/>
          <p:nvPr/>
        </p:nvSpPr>
        <p:spPr>
          <a:xfrm>
            <a:off x="1051560" y="2807208"/>
            <a:ext cx="7589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4" name="Text 12"/>
          <p:cNvSpPr/>
          <p:nvPr/>
        </p:nvSpPr>
        <p:spPr>
          <a:xfrm>
            <a:off x="1143000" y="280720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distribuciones estocásticas de escenarios futuros de mortalidad mediante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parámetros.</a:t>
            </a:r>
            <a:endParaRPr lang="es-P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50292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PR" sz="1800" noProof="0" dirty="0"/>
          </a:p>
        </p:txBody>
      </p:sp>
      <p:sp>
        <p:nvSpPr>
          <p:cNvPr id="17" name="Shape 15"/>
          <p:cNvSpPr/>
          <p:nvPr/>
        </p:nvSpPr>
        <p:spPr>
          <a:xfrm>
            <a:off x="1051560" y="3511296"/>
            <a:ext cx="7589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8" name="Text 16"/>
          <p:cNvSpPr/>
          <p:nvPr/>
        </p:nvSpPr>
        <p:spPr>
          <a:xfrm>
            <a:off x="1143000" y="351129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tablas de vida e intervalos de confianza al 95% para la esperanza de vida al nacer proyectada a 40 años.</a:t>
            </a:r>
            <a:endParaRPr lang="es-P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4215384"/>
            <a:ext cx="50292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PR" sz="1800" noProof="0" dirty="0"/>
          </a:p>
        </p:txBody>
      </p:sp>
      <p:sp>
        <p:nvSpPr>
          <p:cNvPr id="21" name="Shape 19"/>
          <p:cNvSpPr/>
          <p:nvPr/>
        </p:nvSpPr>
        <p:spPr>
          <a:xfrm>
            <a:off x="1051560" y="4215384"/>
            <a:ext cx="7589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22" name="Text 20"/>
          <p:cNvSpPr/>
          <p:nvPr/>
        </p:nvSpPr>
        <p:spPr>
          <a:xfrm>
            <a:off x="1143000" y="421538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las proyecciones con las del WPP de la ONU, el IDB del Censo y el IHME de la Universidad de Washington.</a:t>
            </a:r>
            <a:endParaRPr lang="es-P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8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del Estudio</a:t>
            </a:r>
            <a:endParaRPr lang="es-P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600" noProof="0" dirty="0">
                <a:solidFill>
                  <a:srgbClr val="000000"/>
                </a:solidFill>
              </a:rPr>
              <a:t>⚠️</a:t>
            </a:r>
            <a:endParaRPr lang="es-PR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Crítico en la Literatura</a:t>
            </a:r>
            <a:endParaRPr lang="es-P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proyecciones estocásticas modernas exclusivas para Puerto Rico. Los organismos internacionales trabajan a la isla en masa como toda otra jurisdicción.</a:t>
            </a:r>
            <a:endParaRPr lang="es-P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PR" sz="3600" dirty="0">
                <a:solidFill>
                  <a:srgbClr val="000000"/>
                </a:solidFill>
              </a:rPr>
              <a:t>📋</a:t>
            </a:r>
            <a:endParaRPr lang="es-PR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Organismos Internacionales</a:t>
            </a:r>
            <a:endParaRPr lang="es-P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ES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compararán las proyecciones estocásticas generadas en este estudio con las estimaciones oficiales de la División de Población de las Naciones Unidas y del </a:t>
            </a:r>
            <a:r>
              <a:rPr lang="es-ES" sz="11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r>
              <a:rPr lang="es-ES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s-ES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</a:t>
            </a:r>
            <a:r>
              <a:rPr lang="es-ES" sz="11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r>
              <a:rPr lang="es-ES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s-ES" sz="11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r>
              <a:rPr lang="es-ES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(IHME) y el Negociado del Censo</a:t>
            </a:r>
            <a:endParaRPr lang="es-PR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6" name="Text 14"/>
          <p:cNvSpPr/>
          <p:nvPr/>
        </p:nvSpPr>
        <p:spPr>
          <a:xfrm>
            <a:off x="617220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PR" sz="3600" dirty="0">
                <a:solidFill>
                  <a:srgbClr val="000000"/>
                </a:solidFill>
              </a:rPr>
              <a:t>💸</a:t>
            </a:r>
            <a:endParaRPr lang="es-PR" sz="3600" noProof="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Política Pública</a:t>
            </a:r>
            <a:endParaRPr lang="es-P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1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Planes Fiscales Certificados de la Junta de Supervisión Fiscal dependen de proyecciones de población. Proyecciones robustas son un insumo esencial.</a:t>
            </a:r>
            <a:endParaRPr lang="es-PR" sz="11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Datos y Tipo de Estudio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Estudio</a:t>
            </a:r>
            <a:endParaRPr lang="es-P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Cuantitativo, longitudinal</a:t>
            </a:r>
            <a:endParaRPr lang="es-PR" sz="1200" noProof="0" dirty="0"/>
          </a:p>
          <a:p>
            <a:pPr marL="342900" indent="-342900">
              <a:buSzPct val="100000"/>
              <a:buChar char="•"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estocástica de mortalidad</a:t>
            </a:r>
            <a:endParaRPr lang="es-PR" sz="1200" noProof="0" dirty="0"/>
          </a:p>
          <a:p>
            <a:pPr marL="342900" indent="-342900">
              <a:buSzPct val="100000"/>
              <a:buChar char="•"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edad y sexo</a:t>
            </a:r>
            <a:endParaRPr lang="es-PR" sz="1200" noProof="0" dirty="0"/>
          </a:p>
          <a:p>
            <a:pPr marL="342900" indent="-342900">
              <a:buSzPct val="100000"/>
              <a:buChar char="•"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1950–2021 (histórico)</a:t>
            </a:r>
            <a:endParaRPr lang="es-PR" sz="1200" noProof="0" dirty="0"/>
          </a:p>
          <a:p>
            <a:pPr marL="342900" indent="-342900">
              <a:buSzPct val="100000"/>
              <a:buChar char="•"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2022–2062 (proyectado)</a:t>
            </a:r>
            <a:endParaRPr lang="es-P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4663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4251960" y="1051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s-P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4206240" y="1508760"/>
            <a:ext cx="4434840" cy="713232"/>
          </a:xfrm>
          <a:prstGeom prst="rect">
            <a:avLst/>
          </a:prstGeom>
          <a:solidFill>
            <a:srgbClr val="D4E6F1"/>
          </a:solidFill>
          <a:ln w="12700">
            <a:solidFill>
              <a:srgbClr val="BDD0E0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Text 8"/>
          <p:cNvSpPr/>
          <p:nvPr/>
        </p:nvSpPr>
        <p:spPr>
          <a:xfrm>
            <a:off x="4297680" y="1536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Poblacional</a:t>
            </a:r>
            <a:endParaRPr lang="es-P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4297680" y="18013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Censos Decenales del </a:t>
            </a:r>
            <a:r>
              <a:rPr lang="es-PR" sz="10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</a:t>
            </a: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Bureau interpolados con </a:t>
            </a:r>
            <a:r>
              <a:rPr lang="es-PR" sz="105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</a:t>
            </a: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lineal para años intercensales</a:t>
            </a:r>
            <a:endParaRPr lang="es-P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4206240" y="2313432"/>
            <a:ext cx="4434840" cy="713232"/>
          </a:xfrm>
          <a:prstGeom prst="rect">
            <a:avLst/>
          </a:prstGeom>
          <a:solidFill>
            <a:srgbClr val="D4E6F1"/>
          </a:solidFill>
          <a:ln w="12700">
            <a:solidFill>
              <a:srgbClr val="BDD0E0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3" name="Text 11"/>
          <p:cNvSpPr/>
          <p:nvPr/>
        </p:nvSpPr>
        <p:spPr>
          <a:xfrm>
            <a:off x="4297680" y="23408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(muertes)</a:t>
            </a:r>
            <a:endParaRPr lang="es-P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297680" y="26060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Salud de PR · OMS (base de datos global) · CDC</a:t>
            </a:r>
            <a:endParaRPr lang="es-P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4206240" y="3118104"/>
            <a:ext cx="4434840" cy="713232"/>
          </a:xfrm>
          <a:prstGeom prst="rect">
            <a:avLst/>
          </a:prstGeom>
          <a:solidFill>
            <a:srgbClr val="D4E6F1"/>
          </a:solidFill>
          <a:ln w="12700">
            <a:solidFill>
              <a:srgbClr val="BDD0E0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6" name="Text 14"/>
          <p:cNvSpPr/>
          <p:nvPr/>
        </p:nvSpPr>
        <p:spPr>
          <a:xfrm>
            <a:off x="4297680" y="31455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</a:t>
            </a:r>
            <a:endParaRPr lang="es-P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297680" y="341071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quinquenales; edad 0 separada; 85+ agrupado</a:t>
            </a:r>
            <a:endParaRPr lang="es-PR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4206240" y="3922776"/>
            <a:ext cx="4434840" cy="713232"/>
          </a:xfrm>
          <a:prstGeom prst="rect">
            <a:avLst/>
          </a:prstGeom>
          <a:solidFill>
            <a:srgbClr val="D4E6F1"/>
          </a:solidFill>
          <a:ln w="12700">
            <a:solidFill>
              <a:srgbClr val="BDD0E0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9" name="Text 17"/>
          <p:cNvSpPr/>
          <p:nvPr/>
        </p:nvSpPr>
        <p:spPr>
          <a:xfrm>
            <a:off x="4297680" y="3950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cubierto</a:t>
            </a:r>
            <a:endParaRPr lang="es-P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297680" y="421538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05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1950–2021 (71 años de historia)</a:t>
            </a:r>
            <a:endParaRPr lang="es-PR" sz="10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Población y Variables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Bajo Análisis</a:t>
            </a:r>
            <a:endParaRPr lang="es-P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total residente en Puerto Rico, hombres y mujeres por separado, desde el nacimiento (edad 0) hasta 85+ años, durante el período 1950–2021.</a:t>
            </a:r>
            <a:endParaRPr lang="es-P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Principal</a:t>
            </a:r>
            <a:endParaRPr lang="es-P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754880" y="139903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mortalidad por edad y sexo: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mx,t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Dx,t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Ex,t</a:t>
            </a:r>
            <a:endParaRPr lang="es-PR" sz="1200" noProof="0" dirty="0"/>
          </a:p>
          <a:p>
            <a:pPr marL="0" indent="0">
              <a:buNone/>
            </a:pP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Operacionalizada como el logaritmo natural: 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PR" sz="12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mx,t</a:t>
            </a:r>
            <a:r>
              <a:rPr lang="es-PR" sz="12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P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Análisis — Parámetros del Modelo Lee-Carter</a:t>
            </a:r>
            <a:endParaRPr lang="es-PR" sz="13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55213"/>
              </p:ext>
            </p:extLst>
          </p:nvPr>
        </p:nvGraphicFramePr>
        <p:xfrm>
          <a:off x="365760" y="3200400"/>
          <a:ext cx="3474720" cy="175564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bx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 / Dinámica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</a:t>
                      </a: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mx,t</a:t>
                      </a: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435230"/>
              </p:ext>
            </p:extLst>
          </p:nvPr>
        </p:nvGraphicFramePr>
        <p:xfrm>
          <a:off x="365760" y="3200400"/>
          <a:ext cx="8238808" cy="1755648"/>
        </p:xfrm>
        <a:graphic>
          <a:graphicData uri="http://schemas.openxmlformats.org/drawingml/2006/table">
            <a:tbl>
              <a:tblPr/>
              <a:tblGrid>
                <a:gridCol w="83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 promedio (log) por edad — perfil base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bx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Sensibilidad específica por edad a cambios en </a:t>
                      </a: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 / Dinámica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mortalidad variable en el tiempo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</a:t>
                      </a: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s-PR" sz="11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mx,t</a:t>
                      </a: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de la tasa de mortalidad por edad y año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Esperanza de vida al nacer derivada de tablas de vida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El Modelo Lee-Carter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798968" y="1005840"/>
            <a:ext cx="7546062" cy="868680"/>
          </a:xfrm>
          <a:prstGeom prst="rect">
            <a:avLst/>
          </a:prstGeom>
          <a:solidFill>
            <a:srgbClr val="132244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798968" y="1005840"/>
            <a:ext cx="754606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</a:t>
            </a:r>
            <a:r>
              <a:rPr lang="es-PR" sz="2600" b="1" noProof="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mx,t</a:t>
            </a:r>
            <a:r>
              <a:rPr lang="es-PR" sz="2600" b="1" noProof="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=  </a:t>
            </a: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r>
              <a:rPr lang="es-PR" sz="2600" b="1" noProof="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r>
              <a:rPr lang="es-PR" sz="2600" b="1" noProof="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kt</a:t>
            </a:r>
            <a:r>
              <a:rPr lang="es-PR" sz="2600" b="1" noProof="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s-PR" sz="2600" b="1" noProof="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ex,t</a:t>
            </a:r>
            <a:endParaRPr lang="es-P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201168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6B9A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200" b="1" noProof="0" dirty="0" err="1">
                <a:solidFill>
                  <a:srgbClr val="1A6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s-PR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347472" y="2651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b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base promedio</a:t>
            </a:r>
            <a:endParaRPr lang="es-PR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347472" y="3081528"/>
            <a:ext cx="1874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log de tasas de mortalidad a lo largo del tiempo para cada edad. Captura la forma general de la curva.</a:t>
            </a:r>
            <a:endParaRPr lang="es-PR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450592" y="2057400"/>
            <a:ext cx="201168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17A65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1" name="Text 9"/>
          <p:cNvSpPr/>
          <p:nvPr/>
        </p:nvSpPr>
        <p:spPr>
          <a:xfrm>
            <a:off x="2450592" y="20848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200" b="1" noProof="0" dirty="0" err="1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s-P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2523744" y="2651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b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por edad</a:t>
            </a:r>
            <a:endParaRPr lang="es-P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2523744" y="3081528"/>
            <a:ext cx="1874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específica de cada grupo de edad a los cambios en el índice </a:t>
            </a:r>
            <a:r>
              <a:rPr lang="es-PR" sz="1050" noProof="0" dirty="0" err="1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Contexto-específico para PR.</a:t>
            </a:r>
            <a:endParaRPr lang="es-P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4626864" y="2057400"/>
            <a:ext cx="201168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7D3C9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5" name="Text 13"/>
          <p:cNvSpPr/>
          <p:nvPr/>
        </p:nvSpPr>
        <p:spPr>
          <a:xfrm>
            <a:off x="4626864" y="20848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200" b="1" noProof="0" dirty="0" err="1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kt</a:t>
            </a:r>
            <a:endParaRPr lang="es-PR" sz="2200" noProof="0" dirty="0"/>
          </a:p>
        </p:txBody>
      </p:sp>
      <p:sp>
        <p:nvSpPr>
          <p:cNvPr id="16" name="Text 14"/>
          <p:cNvSpPr/>
          <p:nvPr/>
        </p:nvSpPr>
        <p:spPr>
          <a:xfrm>
            <a:off x="4700016" y="2651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b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temporal</a:t>
            </a:r>
            <a:endParaRPr lang="es-P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700016" y="3081528"/>
            <a:ext cx="1874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general de mejora de mortalidad en el tiempo. Modelado como </a:t>
            </a:r>
            <a:r>
              <a:rPr lang="es-PR" sz="1050" noProof="0" dirty="0" err="1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R" sz="1050" noProof="0" dirty="0" err="1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PR" sz="1050" noProof="0" dirty="0" err="1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R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6803136" y="2057400"/>
            <a:ext cx="201168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922B21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9" name="Text 17"/>
          <p:cNvSpPr/>
          <p:nvPr/>
        </p:nvSpPr>
        <p:spPr>
          <a:xfrm>
            <a:off x="6803136" y="20848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200" b="1" noProof="0" dirty="0" err="1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ex,t</a:t>
            </a:r>
            <a:endParaRPr lang="es-PR" sz="2200" noProof="0" dirty="0"/>
          </a:p>
        </p:txBody>
      </p:sp>
      <p:sp>
        <p:nvSpPr>
          <p:cNvPr id="20" name="Text 18"/>
          <p:cNvSpPr/>
          <p:nvPr/>
        </p:nvSpPr>
        <p:spPr>
          <a:xfrm>
            <a:off x="6876288" y="2651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b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de error</a:t>
            </a:r>
            <a:endParaRPr lang="es-P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876288" y="3081528"/>
            <a:ext cx="1874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PR" sz="1050" noProof="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aleatorio restante después de la descomposición SVD.</a:t>
            </a:r>
            <a:endParaRPr lang="es-PR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950" i="1" noProof="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&amp; Carter (1992) · Descomposición SVD · Restricciones: Σ </a:t>
            </a:r>
            <a:r>
              <a:rPr lang="es-PR" sz="950" i="1" noProof="0" dirty="0" err="1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950" i="1" noProof="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1, Σ </a:t>
            </a:r>
            <a:r>
              <a:rPr lang="es-PR" sz="950" i="1" noProof="0" dirty="0" err="1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950" i="1" noProof="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</a:t>
            </a:r>
            <a:endParaRPr lang="es-PR" sz="9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Proceso de Simulación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2148840" y="2148840"/>
            <a:ext cx="320040" cy="54864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7" name="Shape 5"/>
          <p:cNvSpPr/>
          <p:nvPr/>
        </p:nvSpPr>
        <p:spPr>
          <a:xfrm>
            <a:off x="1005840" y="1115568"/>
            <a:ext cx="640080" cy="64008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PR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Inicial</a:t>
            </a:r>
            <a:endParaRPr lang="es-P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del modelo LC con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stMoMo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(R). </a:t>
            </a:r>
          </a:p>
          <a:p>
            <a:pPr marL="0" indent="0">
              <a:buNone/>
            </a:pPr>
            <a:endParaRPr lang="es-PR" sz="1100" noProof="0" dirty="0">
              <a:solidFill>
                <a:srgbClr val="3D5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PR" sz="110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</a:t>
            </a: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enlace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‘log’ (Poisson)</a:t>
            </a:r>
          </a:p>
          <a:p>
            <a:pPr marL="0" indent="0">
              <a:buNone/>
            </a:pPr>
            <a:endParaRPr lang="es-PR" sz="1100" noProof="0" dirty="0">
              <a:solidFill>
                <a:srgbClr val="3D5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estricción para identificabilidad  'sum’.</a:t>
            </a:r>
          </a:p>
          <a:p>
            <a:pPr marL="0" indent="0">
              <a:buNone/>
            </a:pPr>
            <a:endParaRPr lang="es-PR" sz="1100" noProof="0" dirty="0">
              <a:solidFill>
                <a:srgbClr val="3D5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20040" cy="54864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2" name="Shape 10"/>
          <p:cNvSpPr/>
          <p:nvPr/>
        </p:nvSpPr>
        <p:spPr>
          <a:xfrm>
            <a:off x="2496312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3" name="Shape 11"/>
          <p:cNvSpPr/>
          <p:nvPr/>
        </p:nvSpPr>
        <p:spPr>
          <a:xfrm>
            <a:off x="2496312" y="1005840"/>
            <a:ext cx="201168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4" name="Shape 12"/>
          <p:cNvSpPr/>
          <p:nvPr/>
        </p:nvSpPr>
        <p:spPr>
          <a:xfrm>
            <a:off x="3182112" y="1115568"/>
            <a:ext cx="640080" cy="64008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5" name="Text 13"/>
          <p:cNvSpPr/>
          <p:nvPr/>
        </p:nvSpPr>
        <p:spPr>
          <a:xfrm>
            <a:off x="3182112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PR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2587752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s-PR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2587752" y="23317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remuestras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residuos paramétricos para crear distribución de parámetros. Validado con análisis de residuos.</a:t>
            </a:r>
            <a:endParaRPr lang="es-P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6501384" y="2148840"/>
            <a:ext cx="320040" cy="54864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9" name="Shape 17"/>
          <p:cNvSpPr/>
          <p:nvPr/>
        </p:nvSpPr>
        <p:spPr>
          <a:xfrm>
            <a:off x="4672584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20" name="Shape 18"/>
          <p:cNvSpPr/>
          <p:nvPr/>
        </p:nvSpPr>
        <p:spPr>
          <a:xfrm>
            <a:off x="4672584" y="1005840"/>
            <a:ext cx="201168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1" name="Shape 19"/>
          <p:cNvSpPr/>
          <p:nvPr/>
        </p:nvSpPr>
        <p:spPr>
          <a:xfrm>
            <a:off x="5358384" y="1115568"/>
            <a:ext cx="640080" cy="64008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2" name="Text 20"/>
          <p:cNvSpPr/>
          <p:nvPr/>
        </p:nvSpPr>
        <p:spPr>
          <a:xfrm>
            <a:off x="5358384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PR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4764024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s-P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4764024" y="23317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simulaciones del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futuro vía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(ARIMA). </a:t>
            </a:r>
          </a:p>
          <a:p>
            <a:pPr marL="0" indent="0">
              <a:buNone/>
            </a:pPr>
            <a:endParaRPr lang="es-PR" sz="1100" dirty="0">
              <a:solidFill>
                <a:srgbClr val="3D5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40 años (2022–2062).</a:t>
            </a:r>
            <a:endParaRPr lang="es-P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6848856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26" name="Shape 24"/>
          <p:cNvSpPr/>
          <p:nvPr/>
        </p:nvSpPr>
        <p:spPr>
          <a:xfrm>
            <a:off x="6848856" y="1005840"/>
            <a:ext cx="2011680" cy="7315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7" name="Shape 25"/>
          <p:cNvSpPr/>
          <p:nvPr/>
        </p:nvSpPr>
        <p:spPr>
          <a:xfrm>
            <a:off x="7534656" y="1115568"/>
            <a:ext cx="640080" cy="64008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8" name="Text 26"/>
          <p:cNvSpPr/>
          <p:nvPr/>
        </p:nvSpPr>
        <p:spPr>
          <a:xfrm>
            <a:off x="7534656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PR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6940296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s-PR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6940296" y="23317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mortalidad proyectadas por edad/sexo + Tablas de vida + Esperanza de vida con IC al 95%.</a:t>
            </a:r>
            <a:endParaRPr lang="es-PR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4E6F1"/>
          </a:solidFill>
          <a:ln w="12700">
            <a:solidFill>
              <a:srgbClr val="BDD0E0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32" name="Text 30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050" i="1" noProof="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Implementación: paquete </a:t>
            </a:r>
            <a:r>
              <a:rPr lang="es-PR" sz="1050" i="1" noProof="0" dirty="0" err="1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stMoMo</a:t>
            </a:r>
            <a:r>
              <a:rPr lang="es-PR" sz="1050" i="1" noProof="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(R) · Villegas et al. (2018)  ·  500 </a:t>
            </a:r>
            <a:r>
              <a:rPr lang="es-PR" sz="1050" i="1" noProof="0" dirty="0" err="1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</a:t>
            </a:r>
            <a:r>
              <a:rPr lang="es-PR" sz="1050" i="1" noProof="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500 simulaciones = 250,000 escenarios por sexo</a:t>
            </a:r>
            <a:endParaRPr lang="es-PR" sz="10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08D1-1520-1CD5-B8E0-E18075CE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077820-CFE6-0FBA-08BD-E92E7829CF75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Parámetro </a:t>
            </a:r>
            <a:r>
              <a:rPr lang="es-PR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s-PR" sz="26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64E3F1-37F1-1A06-CCCC-55092D59DC10}"/>
              </a:ext>
            </a:extLst>
          </p:cNvPr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89C86B-38BB-5B2B-144D-142696A78180}"/>
              </a:ext>
            </a:extLst>
          </p:cNvPr>
          <p:cNvSpPr/>
          <p:nvPr/>
        </p:nvSpPr>
        <p:spPr>
          <a:xfrm>
            <a:off x="365759" y="960120"/>
            <a:ext cx="8321041" cy="106462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72A5C1-0A53-4789-B73C-4EA9AEA565E4}"/>
              </a:ext>
            </a:extLst>
          </p:cNvPr>
          <p:cNvSpPr/>
          <p:nvPr/>
        </p:nvSpPr>
        <p:spPr>
          <a:xfrm>
            <a:off x="45720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r>
              <a:rPr lang="es-PR" sz="12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Perfil Base de Mortalidad</a:t>
            </a:r>
            <a:endParaRPr lang="es-PR" sz="12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64B4B3-E640-5D69-E306-79F0995C3594}"/>
              </a:ext>
            </a:extLst>
          </p:cNvPr>
          <p:cNvSpPr/>
          <p:nvPr/>
        </p:nvSpPr>
        <p:spPr>
          <a:xfrm>
            <a:off x="502919" y="1362456"/>
            <a:ext cx="46431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drástica tras el primer año de vida (mortalidad infantil).
</a:t>
            </a:r>
            <a:r>
              <a:rPr lang="es-PR" sz="1100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sostenido con la edad.
</a:t>
            </a:r>
            <a:r>
              <a:rPr lang="es-PR" sz="1100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Joroba masculina en la adolescencia; brecha se cierra en edades avanzadas.</a:t>
            </a:r>
            <a:endParaRPr lang="es-PR" sz="11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252657-5A96-AA45-2C56-34AC46C33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2906" y="2212848"/>
            <a:ext cx="5292428" cy="264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6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3F20-E7D8-8935-B10B-F50B9C31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589CB-F266-E852-0ABD-1488C5D322E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Parámetro </a:t>
            </a:r>
            <a:r>
              <a:rPr lang="es-PR" sz="2600" b="1" noProof="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endParaRPr lang="es-PR" sz="26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E4E6B8-6B48-6814-E257-87B05D881EC5}"/>
              </a:ext>
            </a:extLst>
          </p:cNvPr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80E069-2DFA-64F2-BC20-3EBB34D7A3B8}"/>
              </a:ext>
            </a:extLst>
          </p:cNvPr>
          <p:cNvSpPr/>
          <p:nvPr/>
        </p:nvSpPr>
        <p:spPr>
          <a:xfrm>
            <a:off x="365759" y="960120"/>
            <a:ext cx="8321041" cy="1043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13A30A-9E5F-A840-CA59-B3C5718D312E}"/>
              </a:ext>
            </a:extLst>
          </p:cNvPr>
          <p:cNvSpPr/>
          <p:nvPr/>
        </p:nvSpPr>
        <p:spPr>
          <a:xfrm>
            <a:off x="45720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R" sz="1200" b="1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200" b="1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Sensibilidad por Edad</a:t>
            </a:r>
            <a:endParaRPr lang="es-PR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79EC5A-61C0-9392-7656-681AA7B24443}"/>
              </a:ext>
            </a:extLst>
          </p:cNvPr>
          <p:cNvSpPr/>
          <p:nvPr/>
        </p:nvSpPr>
        <p:spPr>
          <a:xfrm>
            <a:off x="502919" y="1362456"/>
            <a:ext cx="79948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PR" sz="110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máxima en la primera infancia: refleja las mejoras monumentales del siglo XX con respecto a salud infantil
</a:t>
            </a:r>
            <a:r>
              <a:rPr lang="es-PR" sz="110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hombres caen a casi cero en los 20 año.
</a:t>
            </a:r>
            <a:r>
              <a:rPr lang="es-PR" sz="110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sexos convergen a partir de los 60 años.</a:t>
            </a:r>
            <a:endParaRPr lang="es-PR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41EC78-4A4F-4146-1F5A-37BBD1B33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15474" y="2195534"/>
            <a:ext cx="5347292" cy="26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0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2574-20D9-B9B5-DCCD-F5D42DF7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21A9F0-A5B0-8EDA-74CF-AB5D1141CA74}"/>
              </a:ext>
            </a:extLst>
          </p:cNvPr>
          <p:cNvSpPr/>
          <p:nvPr/>
        </p:nvSpPr>
        <p:spPr>
          <a:xfrm>
            <a:off x="45720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4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Parámetro </a:t>
            </a:r>
            <a:r>
              <a:rPr lang="es-PR" sz="2400" b="1" noProof="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24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Índice Temporal de Mortalidad</a:t>
            </a:r>
            <a:endParaRPr lang="es-PR" sz="24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88BF05-7A77-FCDD-873C-A3C708C6871C}"/>
              </a:ext>
            </a:extLst>
          </p:cNvPr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CF0F43-3808-956F-2F68-DAD65E377C6F}"/>
              </a:ext>
            </a:extLst>
          </p:cNvPr>
          <p:cNvSpPr/>
          <p:nvPr/>
        </p:nvSpPr>
        <p:spPr>
          <a:xfrm>
            <a:off x="365760" y="987552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PR" sz="1000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3A8069-C545-7CD9-44CA-17B0AC3275AD}"/>
              </a:ext>
            </a:extLst>
          </p:cNvPr>
          <p:cNvSpPr/>
          <p:nvPr/>
        </p:nvSpPr>
        <p:spPr>
          <a:xfrm>
            <a:off x="5577840" y="987552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B62AD7-0287-538F-7EE0-5F8301F18674}"/>
              </a:ext>
            </a:extLst>
          </p:cNvPr>
          <p:cNvSpPr/>
          <p:nvPr/>
        </p:nvSpPr>
        <p:spPr>
          <a:xfrm>
            <a:off x="5669280" y="1024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</a:t>
            </a:r>
            <a:r>
              <a:rPr lang="es-PR" sz="12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s-PR" sz="12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8F63E7-2720-6D3D-208B-4BE7979B86BC}"/>
              </a:ext>
            </a:extLst>
          </p:cNvPr>
          <p:cNvSpPr/>
          <p:nvPr/>
        </p:nvSpPr>
        <p:spPr>
          <a:xfrm>
            <a:off x="5669280" y="1371600"/>
            <a:ext cx="3017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descenso sostenido — mejora continua de mortalidad.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mediados de 1960s visible en ambos sexos.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VIH evidente a mediados de 1990s.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femenino y masculino se cruzan ~1975.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92A8A40-EE0A-83CE-5B18-C0BF69346DA0}"/>
              </a:ext>
            </a:extLst>
          </p:cNvPr>
          <p:cNvSpPr/>
          <p:nvPr/>
        </p:nvSpPr>
        <p:spPr>
          <a:xfrm>
            <a:off x="5577840" y="40233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CI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~1.1x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sexos</a:t>
            </a:r>
            <a:endParaRPr lang="es-PR" sz="1100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48401E5-1DCD-9885-BAC0-02FC0D36DB9B}"/>
              </a:ext>
            </a:extLst>
          </p:cNvPr>
          <p:cNvSpPr/>
          <p:nvPr/>
        </p:nvSpPr>
        <p:spPr>
          <a:xfrm>
            <a:off x="7269480" y="40233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límite inferior</a:t>
            </a:r>
            <a:endParaRPr lang="es-PR" sz="11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60901C-D4AB-C27F-5D0C-BD9932C3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" y="932688"/>
            <a:ext cx="5031787" cy="251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3E0E-67CB-6BC8-9D73-73BE762B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1ABC70-F209-2301-892B-C2E5AAB46760}"/>
              </a:ext>
            </a:extLst>
          </p:cNvPr>
          <p:cNvSpPr/>
          <p:nvPr/>
        </p:nvSpPr>
        <p:spPr>
          <a:xfrm>
            <a:off x="45720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4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Parámetro </a:t>
            </a:r>
            <a:r>
              <a:rPr lang="es-PR" sz="2400" b="1" noProof="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24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Índice Temporal de Mortalidad</a:t>
            </a:r>
            <a:endParaRPr lang="es-PR" sz="24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DC3F35-6124-B29D-EE89-49A8DB4F9E0B}"/>
              </a:ext>
            </a:extLst>
          </p:cNvPr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2C53BF-C1BC-06DB-FDFA-05F6BED18DC2}"/>
              </a:ext>
            </a:extLst>
          </p:cNvPr>
          <p:cNvSpPr/>
          <p:nvPr/>
        </p:nvSpPr>
        <p:spPr>
          <a:xfrm>
            <a:off x="365760" y="987552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PR" sz="1000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DE730B-6930-BFBC-A143-32623F2C2B04}"/>
              </a:ext>
            </a:extLst>
          </p:cNvPr>
          <p:cNvSpPr/>
          <p:nvPr/>
        </p:nvSpPr>
        <p:spPr>
          <a:xfrm>
            <a:off x="5577840" y="987552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4E6101-C346-9EF6-6801-B835521B7E2B}"/>
              </a:ext>
            </a:extLst>
          </p:cNvPr>
          <p:cNvSpPr/>
          <p:nvPr/>
        </p:nvSpPr>
        <p:spPr>
          <a:xfrm>
            <a:off x="5669280" y="1024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</a:t>
            </a:r>
            <a:r>
              <a:rPr lang="es-PR" sz="12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s-PR" sz="12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6A9A6C-BFDD-04CC-4DD3-A59E0E428D5F}"/>
              </a:ext>
            </a:extLst>
          </p:cNvPr>
          <p:cNvSpPr/>
          <p:nvPr/>
        </p:nvSpPr>
        <p:spPr>
          <a:xfrm>
            <a:off x="5669280" y="1371600"/>
            <a:ext cx="3017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descenso sostenido continua.</a:t>
            </a:r>
          </a:p>
          <a:p>
            <a:pPr marL="342900" indent="-342900">
              <a:buSzPct val="100000"/>
              <a:buChar char="•"/>
            </a:pPr>
            <a:endParaRPr lang="es-PR" sz="1100" noProof="0" dirty="0">
              <a:solidFill>
                <a:srgbClr val="1C28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Tiende al intervalo inferior en ambos sexos</a:t>
            </a:r>
            <a:endParaRPr lang="es-PR" sz="11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2B3E12-FF89-91F5-DC57-43AF09A45DBE}"/>
              </a:ext>
            </a:extLst>
          </p:cNvPr>
          <p:cNvSpPr/>
          <p:nvPr/>
        </p:nvSpPr>
        <p:spPr>
          <a:xfrm>
            <a:off x="5577840" y="40233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CI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~1.1x</a:t>
            </a:r>
            <a:endParaRPr lang="es-PR" sz="1100" noProof="0" dirty="0"/>
          </a:p>
          <a:p>
            <a:pPr marL="0" indent="0" algn="ctr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sexos</a:t>
            </a:r>
            <a:endParaRPr lang="es-PR" sz="1100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D3165D-BB76-69BD-0AE1-CDAB0C8ACE23}"/>
              </a:ext>
            </a:extLst>
          </p:cNvPr>
          <p:cNvSpPr/>
          <p:nvPr/>
        </p:nvSpPr>
        <p:spPr>
          <a:xfrm>
            <a:off x="7269480" y="40233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PR" sz="11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857E25-690E-5510-F4EA-29CE37B1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044" y="932688"/>
            <a:ext cx="5031786" cy="251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1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Tasas de Mortalidad Proyectadas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321040" cy="145087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/>
          <p:cNvSpPr/>
          <p:nvPr/>
        </p:nvSpPr>
        <p:spPr>
          <a:xfrm>
            <a:off x="3246120" y="854551"/>
            <a:ext cx="2743200" cy="287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2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por Grupo de Edad</a:t>
            </a:r>
            <a:endParaRPr lang="es-PR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96628" y="1173559"/>
            <a:ext cx="7842183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(0–14): </a:t>
            </a:r>
            <a:r>
              <a:rPr lang="es-PR" sz="11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Continuan</a:t>
            </a: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declive acelerado.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adultas: declive continuo moderado.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jóvenes (~20 años): </a:t>
            </a:r>
            <a:r>
              <a:rPr lang="es-PR" sz="11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escancamiento</a:t>
            </a:r>
            <a:r>
              <a:rPr lang="es-PR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violencia y accidentes neutralizan mejoras.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mayores: declive lento pero consistente; mujeres más rápido.</a:t>
            </a:r>
            <a:endParaRPr lang="es-PR" sz="1100" noProof="0" dirty="0"/>
          </a:p>
          <a:p>
            <a:pPr marL="342900" indent="-342900">
              <a:buSzPct val="100000"/>
              <a:buChar char="•"/>
            </a:pP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</a:t>
            </a:r>
            <a:r>
              <a:rPr lang="es-PR" sz="1100" noProof="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100" noProof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original explica gran parte del patrón proyectado.</a:t>
            </a:r>
            <a:endParaRPr lang="es-PR" sz="11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FBA09F-075B-FC42-B9A9-46582449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581" y="2332837"/>
            <a:ext cx="5214838" cy="26074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2042-F325-6255-3AED-406E431F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569013-978B-7D66-9A3E-0C9BCADFD89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Tasas de Mortalidad Proyectadas</a:t>
            </a:r>
            <a:endParaRPr lang="es-PR" sz="26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26DFC6-AF43-0AF6-92C8-79FE4605E18F}"/>
              </a:ext>
            </a:extLst>
          </p:cNvPr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E06208-64FD-AC2C-2CE0-A9D25E0A5DB0}"/>
              </a:ext>
            </a:extLst>
          </p:cNvPr>
          <p:cNvSpPr/>
          <p:nvPr/>
        </p:nvSpPr>
        <p:spPr>
          <a:xfrm>
            <a:off x="352044" y="938463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 de Tasas de Mortalidad Seleccionadas (mediana)</a:t>
            </a:r>
            <a:endParaRPr lang="es-PR" sz="1200" noProof="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6C3560CA-73D4-54A3-41AF-BB6939E8A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87326"/>
              </p:ext>
            </p:extLst>
          </p:nvPr>
        </p:nvGraphicFramePr>
        <p:xfrm>
          <a:off x="365760" y="1389132"/>
          <a:ext cx="8412480" cy="1813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/ Sexo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(</a:t>
                      </a:r>
                      <a:r>
                        <a:rPr lang="es-PR" sz="11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</a:t>
                      </a: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</a:t>
                      </a:r>
                      <a:r>
                        <a:rPr lang="es-PR" sz="11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</a:t>
                      </a: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.)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 (</a:t>
                      </a:r>
                      <a:r>
                        <a:rPr lang="es-PR" sz="11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</a:t>
                      </a:r>
                      <a:r>
                        <a:rPr lang="es-P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.)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F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-7.72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-8.08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-8.90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F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-6.36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-6.67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-7.21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-4.85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-5.11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-5.48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-6.03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-6.18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-6.20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-5.40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-5.38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-5.59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-4.17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-4.36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</a:t>
                      </a:r>
                      <a:endParaRPr lang="es-P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2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Hallazgos: Esperanza de Vida al Nacer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6" name="Shape 4"/>
          <p:cNvSpPr/>
          <p:nvPr/>
        </p:nvSpPr>
        <p:spPr>
          <a:xfrm>
            <a:off x="6263640" y="960120"/>
            <a:ext cx="24688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/>
          <p:cNvSpPr/>
          <p:nvPr/>
        </p:nvSpPr>
        <p:spPr>
          <a:xfrm>
            <a:off x="6263640" y="9601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95*</a:t>
            </a:r>
            <a:endParaRPr lang="es-PR" sz="3000" noProof="0" dirty="0"/>
          </a:p>
        </p:txBody>
      </p:sp>
      <p:sp>
        <p:nvSpPr>
          <p:cNvPr id="8" name="Text 6"/>
          <p:cNvSpPr/>
          <p:nvPr/>
        </p:nvSpPr>
        <p:spPr>
          <a:xfrm>
            <a:off x="7269480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</a:t>
            </a:r>
            <a:endParaRPr lang="es-PR" sz="1100" noProof="0" dirty="0"/>
          </a:p>
          <a:p>
            <a:pPr marL="0" indent="0" algn="l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2062</a:t>
            </a:r>
            <a:endParaRPr lang="es-P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6263640" y="1709928"/>
            <a:ext cx="246888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Text 8"/>
          <p:cNvSpPr/>
          <p:nvPr/>
        </p:nvSpPr>
        <p:spPr>
          <a:xfrm>
            <a:off x="6263640" y="170992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s-P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7269480" y="170992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</a:t>
            </a:r>
            <a:endParaRPr lang="es-PR" sz="1100" noProof="0" dirty="0"/>
          </a:p>
          <a:p>
            <a:pPr marL="0" indent="0" algn="l">
              <a:buNone/>
            </a:pP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2062</a:t>
            </a:r>
            <a:endParaRPr lang="es-P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2459736"/>
            <a:ext cx="24688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3" name="Text 11"/>
          <p:cNvSpPr/>
          <p:nvPr/>
        </p:nvSpPr>
        <p:spPr>
          <a:xfrm>
            <a:off x="6263640" y="245973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P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7269480" y="245973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mediana  mejora </a:t>
            </a: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años/década</a:t>
            </a:r>
            <a:endParaRPr lang="es-P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3209544"/>
            <a:ext cx="246888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6" name="Text 14"/>
          <p:cNvSpPr/>
          <p:nvPr/>
        </p:nvSpPr>
        <p:spPr>
          <a:xfrm>
            <a:off x="6263640" y="320954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s-PR" sz="3000" noProof="0" dirty="0"/>
          </a:p>
        </p:txBody>
      </p:sp>
      <p:sp>
        <p:nvSpPr>
          <p:cNvPr id="17" name="Text 15"/>
          <p:cNvSpPr/>
          <p:nvPr/>
        </p:nvSpPr>
        <p:spPr>
          <a:xfrm>
            <a:off x="7269480" y="320954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mediana  mejora </a:t>
            </a:r>
            <a:r>
              <a:rPr lang="es-P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años/década</a:t>
            </a:r>
            <a:endParaRPr lang="es-P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841248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50" b="1" noProof="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Nota sobre IC femenino:</a:t>
            </a:r>
            <a:endParaRPr lang="es-PR" sz="1150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superior para mujeres proyecta ~104 años en 2060 (≈5 años/década), superando el "</a:t>
            </a:r>
            <a:r>
              <a:rPr lang="es-PR" sz="1100" noProof="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</a:t>
            </a:r>
            <a:r>
              <a:rPr lang="es-PR" sz="1100" noProof="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de </a:t>
            </a:r>
            <a:r>
              <a:rPr lang="es-PR" sz="1100" noProof="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Oeppen</a:t>
            </a:r>
            <a:r>
              <a:rPr lang="es-PR" sz="1100" noProof="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Vaupel (2.5 años/década) y el de Ronald Lee (2.0). El límite inferior (89 años) y la proyección masculina son más plausibles. Se requiere investigación adicional sobre el sesgo.</a:t>
            </a:r>
            <a:endParaRPr lang="es-PR" sz="1100" noProof="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2D7335-C540-9798-C220-AE8E35AC8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645395" cy="28226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Discusión: Comparación con </a:t>
            </a:r>
            <a:r>
              <a:rPr lang="es-PR" sz="2600" b="1" noProof="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2614737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3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s-PR" sz="13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842233"/>
              </p:ext>
            </p:extLst>
          </p:nvPr>
        </p:nvGraphicFramePr>
        <p:xfrm>
          <a:off x="365760" y="2962209"/>
          <a:ext cx="841248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Femenina 2061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Masculina 2061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Posición relativa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Nuestras proyecciones (mediana)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en rango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WPP (ONU)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encima (F)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IDB (</a:t>
                      </a:r>
                      <a:r>
                        <a:rPr lang="es-PR" sz="11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</a:t>
                      </a: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Bureau)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IC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IHME (UW GBD)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 años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R" sz="11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Divergencia</a:t>
                      </a:r>
                      <a:endParaRPr lang="es-P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8EE12F5D-B03F-1727-7ECA-7803265B9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7963" y="1054000"/>
            <a:ext cx="2871926" cy="1435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AAC0EF-E472-6B7E-AD20-3027C0E84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037" y="1054001"/>
            <a:ext cx="2871926" cy="14359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AD6E35-7ECF-6355-E135-3272D4FBDA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4111" y="1054001"/>
            <a:ext cx="2871926" cy="14359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Sesgos del Modelo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Sesgo en mortalidad femenina</a:t>
            </a:r>
            <a:endParaRPr lang="es-P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380555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produce un sesgo positivo en el límite superior de la proyección femenina. Las fuentes probables incluyen:</a:t>
            </a:r>
          </a:p>
          <a:p>
            <a:pPr marL="228600" indent="-228600">
              <a:buFont typeface="+mj-lt"/>
              <a:buAutoNum type="arabicPeriod"/>
            </a:pP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</a:t>
            </a:r>
            <a:r>
              <a:rPr lang="es-PR" sz="110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sobreconteo</a:t>
            </a: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Censo 2020 realizado durante la pandemia</a:t>
            </a:r>
          </a:p>
          <a:p>
            <a:pPr marL="228600" indent="-228600">
              <a:buFont typeface="+mj-lt"/>
              <a:buAutoNum type="arabicPeriod"/>
            </a:pP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ubreporte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muertes es improbable. </a:t>
            </a:r>
          </a:p>
          <a:p>
            <a:pPr marL="228600" indent="-228600">
              <a:buFont typeface="+mj-lt"/>
              <a:buAutoNum type="arabicPeriod"/>
            </a:pP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salida selectiva.</a:t>
            </a:r>
            <a:endParaRPr lang="es-PR" sz="1100" noProof="0" dirty="0">
              <a:solidFill>
                <a:srgbClr val="3D5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investigación adicional.</a:t>
            </a:r>
            <a:endParaRPr lang="es-PR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Estancamiento en la mortalidad masculina joven</a:t>
            </a:r>
            <a:endParaRPr lang="es-P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casi nulo a los 20 años refleja que las mejoras en salud pública han sido contrarrestadas por exceso de mortalidad por violencia y accidentes. El LC no puede separar causas de muerte.</a:t>
            </a:r>
            <a:endParaRPr lang="es-P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Choques futuros no anticipados</a:t>
            </a:r>
            <a:endParaRPr lang="es-P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anticipa shocks (</a:t>
            </a:r>
            <a:r>
              <a:rPr lang="es-PR" sz="1100" noProof="0" dirty="0" err="1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huracanes, pandemias). El modelo capturó el efecto del VIH en los 90s históricamente, pero no puede proyectar eventos similares.</a:t>
            </a:r>
            <a:endParaRPr lang="es-PR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PR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r>
              <a:rPr lang="es-PR" sz="11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 — Parámetros</a:t>
            </a:r>
            <a:endParaRPr lang="es-P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parámetros </a:t>
            </a:r>
            <a:r>
              <a:rPr lang="es-PR" sz="1150" noProof="0" dirty="0" err="1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R" sz="1150" noProof="0" dirty="0" err="1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PR" sz="1150" noProof="0" dirty="0" err="1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capturan patrones demográficos clave de Puerto Rico: la caída histórica de mortalidad infantil, el estancamiento masculino joven y la tendencia de declive sostenido.</a:t>
            </a:r>
            <a:endParaRPr lang="es-PR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r>
              <a:rPr lang="es-PR" sz="11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 — </a:t>
            </a: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s-PR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</a:t>
            </a:r>
            <a:r>
              <a:rPr lang="es-PR" sz="1150" noProof="0" dirty="0" err="1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</a:t>
            </a: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generan residuos bien distribuidos. Los parámetros femeninos muestran mayor rango de incertidumbre en </a:t>
            </a:r>
            <a:r>
              <a:rPr lang="es-PR" sz="11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</a:t>
            </a: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mientras el tiempo avanza.</a:t>
            </a:r>
            <a:endParaRPr lang="es-PR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980944"/>
            <a:ext cx="8412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r>
              <a:rPr lang="es-PR" sz="11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3 — Proyecciones</a:t>
            </a:r>
            <a:endParaRPr lang="es-P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3467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esperanza de vida continuará aumentando: ~2.3 años/década para mujeres (mediana ≈ 95) y ~1.6 para hombres (mediana ≈ 82). Los intervalos amplios son en sí mismos un hallazgo.</a:t>
            </a:r>
            <a:endParaRPr lang="es-P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3968496"/>
            <a:ext cx="8412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4032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r>
              <a:rPr lang="es-PR" sz="1100" b="1" noProof="0" dirty="0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4 — </a:t>
            </a:r>
            <a:r>
              <a:rPr lang="es-PR" sz="1100" b="1" noProof="0" dirty="0" err="1">
                <a:solidFill>
                  <a:srgbClr val="0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s-PR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50" noProof="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proyecciones externas (WPP, IDB, IHME) caen dentro de nuestros IC. La proyección masculina es comparable y plausible. La femenina presenta sesgo positivo que requiere investigación adicional.</a:t>
            </a:r>
            <a:endParaRPr lang="es-PR" sz="11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26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Trabajo Futuro</a:t>
            </a:r>
            <a:endParaRPr lang="es-P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4008" cy="5486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0" cy="1828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s-P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Jerárquico Bayesiano (ONU)</a:t>
            </a:r>
            <a:endParaRPr lang="es-PR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1097279" y="1508760"/>
            <a:ext cx="3265027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modelo de Raftery et al. (2013) utilizado por el WPP. Incorpora mayor contexto global y es más robusto ante </a:t>
            </a: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estructurales.</a:t>
            </a:r>
            <a:endParaRPr lang="es-P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0" cy="1828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s-P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del Sesgo Femenino</a:t>
            </a:r>
            <a:endParaRPr lang="es-PR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las actualizaciones del censo. Monitorear por si es un efecto temporero.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640080" cy="1828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s-PR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con Covariables</a:t>
            </a:r>
            <a:endParaRPr lang="es-P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variables de determinantes sociales, migración, catástrofes naturales y causas de muerte específicas para mejorar la captura de dinámicas estructurales únicas de Puerto Rico.</a:t>
            </a:r>
            <a:endParaRPr lang="es-P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640080" cy="1828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s-P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R" sz="1200" b="1" noProof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Basada en Escenarios</a:t>
            </a:r>
            <a:endParaRPr lang="es-P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PR" sz="1100" noProof="0" dirty="0">
                <a:solidFill>
                  <a:srgbClr val="3D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IC como insumo para planificación fiscal y de servicios de salud. Los anchos del intervalo deben traducirse a rangos de necesidad de recursos, no a estimaciones puntuales.</a:t>
            </a:r>
            <a:endParaRPr lang="es-PR" sz="11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6400800" cy="6400800"/>
          </a:xfrm>
          <a:prstGeom prst="ellipse">
            <a:avLst/>
          </a:prstGeom>
          <a:solidFill>
            <a:srgbClr val="1A4B8C">
              <a:alpha val="18000"/>
            </a:srgbClr>
          </a:solidFill>
          <a:ln w="12700">
            <a:solidFill>
              <a:srgbClr val="1A4B8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s-PR" sz="4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965960"/>
            <a:ext cx="4572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2000" i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Sugerencias y Comentarios</a:t>
            </a:r>
            <a:endParaRPr lang="es-PR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C7B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 noProof="0" dirty="0"/>
          </a:p>
        </p:txBody>
      </p:sp>
      <p:sp>
        <p:nvSpPr>
          <p:cNvPr id="7" name="Text 5"/>
          <p:cNvSpPr/>
          <p:nvPr/>
        </p:nvSpPr>
        <p:spPr>
          <a:xfrm>
            <a:off x="1463040" y="2907792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300" b="1" noProof="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datos disponibles en GitHub
</a:t>
            </a:r>
            <a:endParaRPr lang="es-PR" sz="1300" noProof="0" dirty="0"/>
          </a:p>
          <a:p>
            <a:pPr marL="0" indent="0" algn="ctr">
              <a:buNone/>
            </a:pPr>
            <a:r>
              <a:rPr lang="es-PR" sz="13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Lee-Carter (1992) · paquete </a:t>
            </a:r>
            <a:r>
              <a:rPr lang="es-PR" sz="1300" noProof="0" dirty="0" err="1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stMoMo</a:t>
            </a:r>
            <a:r>
              <a:rPr lang="es-PR" sz="13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(Villegas et al., 2018)
</a:t>
            </a:r>
            <a:endParaRPr lang="es-PR" sz="1300" noProof="0" dirty="0"/>
          </a:p>
          <a:p>
            <a:pPr marL="0" indent="0" algn="ctr">
              <a:buNone/>
            </a:pPr>
            <a:r>
              <a:rPr lang="es-PR" sz="1300" noProof="0" dirty="0" err="1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r>
              <a:rPr lang="es-PR" sz="1300" noProof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WPP-ONU · IDB-Censo · IHME-UW</a:t>
            </a:r>
            <a:endParaRPr lang="es-P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  <p:txBody>
          <a:bodyPr/>
          <a:lstStyle/>
          <a:p>
            <a:endParaRPr lang="es-PR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000" noProof="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Puerto Rico · Recinto de </a:t>
            </a:r>
            <a:r>
              <a:rPr lang="es-PR" sz="100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Medicas</a:t>
            </a:r>
            <a:endParaRPr lang="es-PR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1763</Words>
  <Application>Microsoft Office PowerPoint</Application>
  <PresentationFormat>On-screen Show (16:9)</PresentationFormat>
  <Paragraphs>274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Angel Sanquiche</cp:lastModifiedBy>
  <cp:revision>10</cp:revision>
  <dcterms:created xsi:type="dcterms:W3CDTF">2026-05-16T16:56:35Z</dcterms:created>
  <dcterms:modified xsi:type="dcterms:W3CDTF">2026-05-30T01:18:14Z</dcterms:modified>
</cp:coreProperties>
</file>